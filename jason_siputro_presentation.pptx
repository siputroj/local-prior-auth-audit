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5" r:id="rId3"/>
    <p:sldId id="257" r:id="rId4"/>
    <p:sldId id="260" r:id="rId5"/>
    <p:sldId id="264" r:id="rId6"/>
    <p:sldId id="262" r:id="rId7"/>
    <p:sldId id="267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85411"/>
  </p:normalViewPr>
  <p:slideViewPr>
    <p:cSldViewPr snapToGrid="0">
      <p:cViewPr>
        <p:scale>
          <a:sx n="114" d="100"/>
          <a:sy n="114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BDD2F1-AB45-4AC4-B090-D56E4164822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C11C4E3B-19E7-4114-8D28-60646F35D2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Administrative Burdens:</a:t>
          </a:r>
        </a:p>
      </dgm:t>
    </dgm:pt>
    <dgm:pt modelId="{B0BFC491-B350-4B57-BB9C-5D6547EB8F67}" type="parTrans" cxnId="{AE8D0B56-0A1B-4D0B-91C3-51ED66BCE0EE}">
      <dgm:prSet/>
      <dgm:spPr/>
      <dgm:t>
        <a:bodyPr/>
        <a:lstStyle/>
        <a:p>
          <a:endParaRPr lang="en-US"/>
        </a:p>
      </dgm:t>
    </dgm:pt>
    <dgm:pt modelId="{1D814E8E-7E03-4D86-A06B-CF285B7CEAD5}" type="sibTrans" cxnId="{AE8D0B56-0A1B-4D0B-91C3-51ED66BCE0EE}">
      <dgm:prSet/>
      <dgm:spPr/>
      <dgm:t>
        <a:bodyPr/>
        <a:lstStyle/>
        <a:p>
          <a:endParaRPr lang="en-US"/>
        </a:p>
      </dgm:t>
    </dgm:pt>
    <dgm:pt modelId="{B79A6FF1-46EB-4905-B220-8280CB5831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Providers process 43 authorization requests a week</a:t>
          </a:r>
          <a:r>
            <a:rPr lang="en-US"/>
            <a:t>, spending over </a:t>
          </a:r>
          <a:r>
            <a:rPr lang="en-US" b="1"/>
            <a:t>12 staff hours </a:t>
          </a:r>
          <a:r>
            <a:rPr lang="en-US"/>
            <a:t>in manual documentation and review connected to Prior Authorization.</a:t>
          </a:r>
        </a:p>
      </dgm:t>
    </dgm:pt>
    <dgm:pt modelId="{5767F159-87E9-4C6F-9348-22D676C717C3}" type="parTrans" cxnId="{7B48EDF7-6F42-4955-9790-C2417D27B155}">
      <dgm:prSet/>
      <dgm:spPr/>
      <dgm:t>
        <a:bodyPr/>
        <a:lstStyle/>
        <a:p>
          <a:endParaRPr lang="en-US"/>
        </a:p>
      </dgm:t>
    </dgm:pt>
    <dgm:pt modelId="{D090AA17-7DF8-4F24-ACF3-0FE863CCD6BD}" type="sibTrans" cxnId="{7B48EDF7-6F42-4955-9790-C2417D27B155}">
      <dgm:prSet/>
      <dgm:spPr/>
      <dgm:t>
        <a:bodyPr/>
        <a:lstStyle/>
        <a:p>
          <a:endParaRPr lang="en-US"/>
        </a:p>
      </dgm:t>
    </dgm:pt>
    <dgm:pt modelId="{1333059E-3184-4649-B19E-75D9C5AB58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Prior-auth staffing jumped </a:t>
          </a:r>
          <a:r>
            <a:rPr lang="en-US" b="1"/>
            <a:t>43%</a:t>
          </a:r>
          <a:r>
            <a:rPr lang="en-US"/>
            <a:t> between 2019 and 2024.</a:t>
          </a:r>
        </a:p>
      </dgm:t>
    </dgm:pt>
    <dgm:pt modelId="{4E0D1AB1-DCA6-4578-A337-4BEC8DEEAD06}" type="parTrans" cxnId="{8EF5AC22-E01C-4613-897D-10E78018EEF4}">
      <dgm:prSet/>
      <dgm:spPr/>
      <dgm:t>
        <a:bodyPr/>
        <a:lstStyle/>
        <a:p>
          <a:endParaRPr lang="en-US"/>
        </a:p>
      </dgm:t>
    </dgm:pt>
    <dgm:pt modelId="{40D7BC4E-2870-4725-ADE3-9E03DF56C832}" type="sibTrans" cxnId="{8EF5AC22-E01C-4613-897D-10E78018EEF4}">
      <dgm:prSet/>
      <dgm:spPr/>
      <dgm:t>
        <a:bodyPr/>
        <a:lstStyle/>
        <a:p>
          <a:endParaRPr lang="en-US"/>
        </a:p>
      </dgm:t>
    </dgm:pt>
    <dgm:pt modelId="{162C52F7-D142-4581-9FA4-155BC4C801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Patient Burden:</a:t>
          </a:r>
        </a:p>
      </dgm:t>
    </dgm:pt>
    <dgm:pt modelId="{0F36C850-A883-4855-90D3-12215ED747AC}" type="parTrans" cxnId="{F89A708B-0452-461F-90C5-38144B19743B}">
      <dgm:prSet/>
      <dgm:spPr/>
      <dgm:t>
        <a:bodyPr/>
        <a:lstStyle/>
        <a:p>
          <a:endParaRPr lang="en-US"/>
        </a:p>
      </dgm:t>
    </dgm:pt>
    <dgm:pt modelId="{82CAB350-A85C-4297-B1C9-B44243144565}" type="sibTrans" cxnId="{F89A708B-0452-461F-90C5-38144B19743B}">
      <dgm:prSet/>
      <dgm:spPr/>
      <dgm:t>
        <a:bodyPr/>
        <a:lstStyle/>
        <a:p>
          <a:endParaRPr lang="en-US"/>
        </a:p>
      </dgm:t>
    </dgm:pt>
    <dgm:pt modelId="{0298D976-63BD-480E-B6F3-EB5C9B527C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29%</a:t>
          </a:r>
          <a:r>
            <a:rPr lang="en-US"/>
            <a:t> of physicians reported that patients in their care suffered serious adverse event because treatment was stalled.</a:t>
          </a:r>
        </a:p>
      </dgm:t>
    </dgm:pt>
    <dgm:pt modelId="{00CCC10B-825B-4BEC-83D2-1B2368BB8F82}" type="parTrans" cxnId="{DB590A9C-2704-402A-ACA8-EEAA5C31162D}">
      <dgm:prSet/>
      <dgm:spPr/>
      <dgm:t>
        <a:bodyPr/>
        <a:lstStyle/>
        <a:p>
          <a:endParaRPr lang="en-US"/>
        </a:p>
      </dgm:t>
    </dgm:pt>
    <dgm:pt modelId="{9837D54C-BDCC-4680-9F39-16930F1D9E0C}" type="sibTrans" cxnId="{DB590A9C-2704-402A-ACA8-EEAA5C31162D}">
      <dgm:prSet/>
      <dgm:spPr/>
      <dgm:t>
        <a:bodyPr/>
        <a:lstStyle/>
        <a:p>
          <a:endParaRPr lang="en-US"/>
        </a:p>
      </dgm:t>
    </dgm:pt>
    <dgm:pt modelId="{7E64152B-C857-4F58-BBBB-AE285F141E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Most providers report that prior auth barriers results in </a:t>
          </a:r>
          <a:r>
            <a:rPr lang="en-US" b="1"/>
            <a:t>treatment abandonment</a:t>
          </a:r>
          <a:r>
            <a:rPr lang="en-US"/>
            <a:t>.</a:t>
          </a:r>
        </a:p>
      </dgm:t>
    </dgm:pt>
    <dgm:pt modelId="{CC2C81D2-509F-48D9-852B-F20C215407A0}" type="parTrans" cxnId="{BBB2A969-ED29-47FD-8A10-CB87FE8456CF}">
      <dgm:prSet/>
      <dgm:spPr/>
      <dgm:t>
        <a:bodyPr/>
        <a:lstStyle/>
        <a:p>
          <a:endParaRPr lang="en-US"/>
        </a:p>
      </dgm:t>
    </dgm:pt>
    <dgm:pt modelId="{D603D590-86D1-4A2B-AA78-5ECE7A167EF8}" type="sibTrans" cxnId="{BBB2A969-ED29-47FD-8A10-CB87FE8456CF}">
      <dgm:prSet/>
      <dgm:spPr/>
      <dgm:t>
        <a:bodyPr/>
        <a:lstStyle/>
        <a:p>
          <a:endParaRPr lang="en-US"/>
        </a:p>
      </dgm:t>
    </dgm:pt>
    <dgm:pt modelId="{DD66BE73-6A9E-42FC-B98A-79C72B216A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CMS Interoperability and Prior Authorization Final Rule (CMS-0057-F):</a:t>
          </a:r>
        </a:p>
      </dgm:t>
    </dgm:pt>
    <dgm:pt modelId="{2E42424A-5FC7-4665-8235-A9801EBC1EE5}" type="parTrans" cxnId="{5A855A56-B13E-4066-B7B4-9B9683F76B93}">
      <dgm:prSet/>
      <dgm:spPr/>
      <dgm:t>
        <a:bodyPr/>
        <a:lstStyle/>
        <a:p>
          <a:endParaRPr lang="en-US"/>
        </a:p>
      </dgm:t>
    </dgm:pt>
    <dgm:pt modelId="{42BF31E4-DC99-437F-A70C-46679F1A81A9}" type="sibTrans" cxnId="{5A855A56-B13E-4066-B7B4-9B9683F76B93}">
      <dgm:prSet/>
      <dgm:spPr/>
      <dgm:t>
        <a:bodyPr/>
        <a:lstStyle/>
        <a:p>
          <a:endParaRPr lang="en-US"/>
        </a:p>
      </dgm:t>
    </dgm:pt>
    <dgm:pt modelId="{689A7C00-98B8-4870-9373-EE5F64DB29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Payers must process standard prior authorization within </a:t>
          </a:r>
          <a:r>
            <a:rPr lang="en-US" b="1"/>
            <a:t>7 calendar days</a:t>
          </a:r>
          <a:r>
            <a:rPr lang="en-US"/>
            <a:t>, and urgent requests within </a:t>
          </a:r>
          <a:r>
            <a:rPr lang="en-US" b="1"/>
            <a:t>72 hours</a:t>
          </a:r>
          <a:r>
            <a:rPr lang="en-US"/>
            <a:t>, effective Jan 1</a:t>
          </a:r>
          <a:r>
            <a:rPr lang="en-US" baseline="30000"/>
            <a:t>st</a:t>
          </a:r>
          <a:r>
            <a:rPr lang="en-US"/>
            <a:t>, 2026.</a:t>
          </a:r>
        </a:p>
      </dgm:t>
    </dgm:pt>
    <dgm:pt modelId="{71836A90-B82A-4156-9FB7-26C783CE1BF4}" type="parTrans" cxnId="{27DFE513-F4C7-411C-B3E8-233E6EE75201}">
      <dgm:prSet/>
      <dgm:spPr/>
      <dgm:t>
        <a:bodyPr/>
        <a:lstStyle/>
        <a:p>
          <a:endParaRPr lang="en-US"/>
        </a:p>
      </dgm:t>
    </dgm:pt>
    <dgm:pt modelId="{965AA4A6-278F-4F17-9984-B7A772EF84C8}" type="sibTrans" cxnId="{27DFE513-F4C7-411C-B3E8-233E6EE75201}">
      <dgm:prSet/>
      <dgm:spPr/>
      <dgm:t>
        <a:bodyPr/>
        <a:lstStyle/>
        <a:p>
          <a:endParaRPr lang="en-US"/>
        </a:p>
      </dgm:t>
    </dgm:pt>
    <dgm:pt modelId="{98B90080-217C-4CD6-992C-EF4C67C936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Payers must implement and manage </a:t>
          </a:r>
          <a:r>
            <a:rPr lang="en-US" b="1"/>
            <a:t>FHIR-based Application Programming</a:t>
          </a:r>
          <a:r>
            <a:rPr lang="en-US"/>
            <a:t> </a:t>
          </a:r>
          <a:r>
            <a:rPr lang="en-US" b="1"/>
            <a:t>Interface</a:t>
          </a:r>
          <a:r>
            <a:rPr lang="en-US"/>
            <a:t> to streamline data sharing (patient access, provider access, prior authorization APIs), effective Jan 1</a:t>
          </a:r>
          <a:r>
            <a:rPr lang="en-US" baseline="30000"/>
            <a:t>st</a:t>
          </a:r>
          <a:r>
            <a:rPr lang="en-US"/>
            <a:t> , 2027.</a:t>
          </a:r>
        </a:p>
      </dgm:t>
    </dgm:pt>
    <dgm:pt modelId="{3A3AF832-F4D7-4B15-89EA-780DA107C05E}" type="parTrans" cxnId="{2DA4AAF1-7387-4B8A-A65B-41E86A4E6A5F}">
      <dgm:prSet/>
      <dgm:spPr/>
      <dgm:t>
        <a:bodyPr/>
        <a:lstStyle/>
        <a:p>
          <a:endParaRPr lang="en-US"/>
        </a:p>
      </dgm:t>
    </dgm:pt>
    <dgm:pt modelId="{9F1CC891-F5FB-42B1-9F39-2A471852F103}" type="sibTrans" cxnId="{2DA4AAF1-7387-4B8A-A65B-41E86A4E6A5F}">
      <dgm:prSet/>
      <dgm:spPr/>
      <dgm:t>
        <a:bodyPr/>
        <a:lstStyle/>
        <a:p>
          <a:endParaRPr lang="en-US"/>
        </a:p>
      </dgm:t>
    </dgm:pt>
    <dgm:pt modelId="{43B29A86-15DE-4C44-82BD-B68EBCD828CB}" type="pres">
      <dgm:prSet presAssocID="{F8BDD2F1-AB45-4AC4-B090-D56E41648227}" presName="root" presStyleCnt="0">
        <dgm:presLayoutVars>
          <dgm:dir/>
          <dgm:resizeHandles val="exact"/>
        </dgm:presLayoutVars>
      </dgm:prSet>
      <dgm:spPr/>
    </dgm:pt>
    <dgm:pt modelId="{0E7DB076-0579-4B68-AF14-EA18CB71875B}" type="pres">
      <dgm:prSet presAssocID="{C11C4E3B-19E7-4114-8D28-60646F35D2A3}" presName="compNode" presStyleCnt="0"/>
      <dgm:spPr/>
    </dgm:pt>
    <dgm:pt modelId="{FC7C0DA3-1CA2-448D-B8E8-F21F03358064}" type="pres">
      <dgm:prSet presAssocID="{C11C4E3B-19E7-4114-8D28-60646F35D2A3}" presName="bgRect" presStyleLbl="bgShp" presStyleIdx="0" presStyleCnt="3"/>
      <dgm:spPr/>
    </dgm:pt>
    <dgm:pt modelId="{CBFE9932-D96D-4838-921A-70C3A1DA53F1}" type="pres">
      <dgm:prSet presAssocID="{C11C4E3B-19E7-4114-8D28-60646F35D2A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7377C239-EF83-47AF-9F80-4D20238F0966}" type="pres">
      <dgm:prSet presAssocID="{C11C4E3B-19E7-4114-8D28-60646F35D2A3}" presName="spaceRect" presStyleCnt="0"/>
      <dgm:spPr/>
    </dgm:pt>
    <dgm:pt modelId="{770634BC-19BE-409E-B854-6AF7CFB01834}" type="pres">
      <dgm:prSet presAssocID="{C11C4E3B-19E7-4114-8D28-60646F35D2A3}" presName="parTx" presStyleLbl="revTx" presStyleIdx="0" presStyleCnt="6">
        <dgm:presLayoutVars>
          <dgm:chMax val="0"/>
          <dgm:chPref val="0"/>
        </dgm:presLayoutVars>
      </dgm:prSet>
      <dgm:spPr/>
    </dgm:pt>
    <dgm:pt modelId="{3BA0B73A-909C-475F-854C-4925B86469D9}" type="pres">
      <dgm:prSet presAssocID="{C11C4E3B-19E7-4114-8D28-60646F35D2A3}" presName="desTx" presStyleLbl="revTx" presStyleIdx="1" presStyleCnt="6">
        <dgm:presLayoutVars/>
      </dgm:prSet>
      <dgm:spPr/>
    </dgm:pt>
    <dgm:pt modelId="{E4406D59-ABA9-4855-832F-0CA20DD68B2F}" type="pres">
      <dgm:prSet presAssocID="{1D814E8E-7E03-4D86-A06B-CF285B7CEAD5}" presName="sibTrans" presStyleCnt="0"/>
      <dgm:spPr/>
    </dgm:pt>
    <dgm:pt modelId="{B67AE5CE-1260-4C2C-B591-B14C0DDBE74D}" type="pres">
      <dgm:prSet presAssocID="{162C52F7-D142-4581-9FA4-155BC4C8019C}" presName="compNode" presStyleCnt="0"/>
      <dgm:spPr/>
    </dgm:pt>
    <dgm:pt modelId="{918C6892-2AC3-454C-8031-DED3C2F23739}" type="pres">
      <dgm:prSet presAssocID="{162C52F7-D142-4581-9FA4-155BC4C8019C}" presName="bgRect" presStyleLbl="bgShp" presStyleIdx="1" presStyleCnt="3"/>
      <dgm:spPr/>
    </dgm:pt>
    <dgm:pt modelId="{B1CECEA6-9167-4FBF-91B0-8E076E099CC9}" type="pres">
      <dgm:prSet presAssocID="{162C52F7-D142-4581-9FA4-155BC4C8019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298629B8-9A89-4406-8EB2-7BA5C68248F3}" type="pres">
      <dgm:prSet presAssocID="{162C52F7-D142-4581-9FA4-155BC4C8019C}" presName="spaceRect" presStyleCnt="0"/>
      <dgm:spPr/>
    </dgm:pt>
    <dgm:pt modelId="{525082C8-2794-42D3-A790-9AA17E218335}" type="pres">
      <dgm:prSet presAssocID="{162C52F7-D142-4581-9FA4-155BC4C8019C}" presName="parTx" presStyleLbl="revTx" presStyleIdx="2" presStyleCnt="6">
        <dgm:presLayoutVars>
          <dgm:chMax val="0"/>
          <dgm:chPref val="0"/>
        </dgm:presLayoutVars>
      </dgm:prSet>
      <dgm:spPr/>
    </dgm:pt>
    <dgm:pt modelId="{8AB74E9D-0C44-43CD-A173-FBE1DF440056}" type="pres">
      <dgm:prSet presAssocID="{162C52F7-D142-4581-9FA4-155BC4C8019C}" presName="desTx" presStyleLbl="revTx" presStyleIdx="3" presStyleCnt="6">
        <dgm:presLayoutVars/>
      </dgm:prSet>
      <dgm:spPr/>
    </dgm:pt>
    <dgm:pt modelId="{DAC9C9B3-5136-4A25-AE41-3744CB78B1D6}" type="pres">
      <dgm:prSet presAssocID="{82CAB350-A85C-4297-B1C9-B44243144565}" presName="sibTrans" presStyleCnt="0"/>
      <dgm:spPr/>
    </dgm:pt>
    <dgm:pt modelId="{10D0A98D-6A27-4D98-BE58-EE6AD6DF4E75}" type="pres">
      <dgm:prSet presAssocID="{DD66BE73-6A9E-42FC-B98A-79C72B216A64}" presName="compNode" presStyleCnt="0"/>
      <dgm:spPr/>
    </dgm:pt>
    <dgm:pt modelId="{F4945498-6657-4998-910B-FEA30C93C822}" type="pres">
      <dgm:prSet presAssocID="{DD66BE73-6A9E-42FC-B98A-79C72B216A64}" presName="bgRect" presStyleLbl="bgShp" presStyleIdx="2" presStyleCnt="3"/>
      <dgm:spPr/>
    </dgm:pt>
    <dgm:pt modelId="{31181386-5581-4CB1-86A0-2F77AD3B1A17}" type="pres">
      <dgm:prSet presAssocID="{DD66BE73-6A9E-42FC-B98A-79C72B216A6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113884B7-E356-4BAC-8C3E-30FCFE93AEA3}" type="pres">
      <dgm:prSet presAssocID="{DD66BE73-6A9E-42FC-B98A-79C72B216A64}" presName="spaceRect" presStyleCnt="0"/>
      <dgm:spPr/>
    </dgm:pt>
    <dgm:pt modelId="{D25287A5-D795-4D74-9083-5A8C9E9D50E8}" type="pres">
      <dgm:prSet presAssocID="{DD66BE73-6A9E-42FC-B98A-79C72B216A64}" presName="parTx" presStyleLbl="revTx" presStyleIdx="4" presStyleCnt="6">
        <dgm:presLayoutVars>
          <dgm:chMax val="0"/>
          <dgm:chPref val="0"/>
        </dgm:presLayoutVars>
      </dgm:prSet>
      <dgm:spPr/>
    </dgm:pt>
    <dgm:pt modelId="{A031F0FC-6127-4F9B-9E5C-D26771C22310}" type="pres">
      <dgm:prSet presAssocID="{DD66BE73-6A9E-42FC-B98A-79C72B216A64}" presName="desTx" presStyleLbl="revTx" presStyleIdx="5" presStyleCnt="6">
        <dgm:presLayoutVars/>
      </dgm:prSet>
      <dgm:spPr/>
    </dgm:pt>
  </dgm:ptLst>
  <dgm:cxnLst>
    <dgm:cxn modelId="{DC1A850C-E94E-AB45-B877-6BF79D55901A}" type="presOf" srcId="{F8BDD2F1-AB45-4AC4-B090-D56E41648227}" destId="{43B29A86-15DE-4C44-82BD-B68EBCD828CB}" srcOrd="0" destOrd="0" presId="urn:microsoft.com/office/officeart/2018/2/layout/IconVerticalSolidList"/>
    <dgm:cxn modelId="{27DFE513-F4C7-411C-B3E8-233E6EE75201}" srcId="{DD66BE73-6A9E-42FC-B98A-79C72B216A64}" destId="{689A7C00-98B8-4870-9373-EE5F64DB2921}" srcOrd="0" destOrd="0" parTransId="{71836A90-B82A-4156-9FB7-26C783CE1BF4}" sibTransId="{965AA4A6-278F-4F17-9984-B7A772EF84C8}"/>
    <dgm:cxn modelId="{8EF5AC22-E01C-4613-897D-10E78018EEF4}" srcId="{C11C4E3B-19E7-4114-8D28-60646F35D2A3}" destId="{1333059E-3184-4649-B19E-75D9C5AB588D}" srcOrd="1" destOrd="0" parTransId="{4E0D1AB1-DCA6-4578-A337-4BEC8DEEAD06}" sibTransId="{40D7BC4E-2870-4725-ADE3-9E03DF56C832}"/>
    <dgm:cxn modelId="{35CF7327-E5B7-464F-A890-A45924CE2CF3}" type="presOf" srcId="{B79A6FF1-46EB-4905-B220-8280CB58310C}" destId="{3BA0B73A-909C-475F-854C-4925B86469D9}" srcOrd="0" destOrd="0" presId="urn:microsoft.com/office/officeart/2018/2/layout/IconVerticalSolidList"/>
    <dgm:cxn modelId="{CCF9F339-0C16-E84B-A4B1-24C9D69BDDBE}" type="presOf" srcId="{162C52F7-D142-4581-9FA4-155BC4C8019C}" destId="{525082C8-2794-42D3-A790-9AA17E218335}" srcOrd="0" destOrd="0" presId="urn:microsoft.com/office/officeart/2018/2/layout/IconVerticalSolidList"/>
    <dgm:cxn modelId="{AE8D0B56-0A1B-4D0B-91C3-51ED66BCE0EE}" srcId="{F8BDD2F1-AB45-4AC4-B090-D56E41648227}" destId="{C11C4E3B-19E7-4114-8D28-60646F35D2A3}" srcOrd="0" destOrd="0" parTransId="{B0BFC491-B350-4B57-BB9C-5D6547EB8F67}" sibTransId="{1D814E8E-7E03-4D86-A06B-CF285B7CEAD5}"/>
    <dgm:cxn modelId="{5A855A56-B13E-4066-B7B4-9B9683F76B93}" srcId="{F8BDD2F1-AB45-4AC4-B090-D56E41648227}" destId="{DD66BE73-6A9E-42FC-B98A-79C72B216A64}" srcOrd="2" destOrd="0" parTransId="{2E42424A-5FC7-4665-8235-A9801EBC1EE5}" sibTransId="{42BF31E4-DC99-437F-A70C-46679F1A81A9}"/>
    <dgm:cxn modelId="{2E9D0E58-E4C9-3344-8637-89F29C141982}" type="presOf" srcId="{C11C4E3B-19E7-4114-8D28-60646F35D2A3}" destId="{770634BC-19BE-409E-B854-6AF7CFB01834}" srcOrd="0" destOrd="0" presId="urn:microsoft.com/office/officeart/2018/2/layout/IconVerticalSolidList"/>
    <dgm:cxn modelId="{BBB2A969-ED29-47FD-8A10-CB87FE8456CF}" srcId="{162C52F7-D142-4581-9FA4-155BC4C8019C}" destId="{7E64152B-C857-4F58-BBBB-AE285F141EED}" srcOrd="1" destOrd="0" parTransId="{CC2C81D2-509F-48D9-852B-F20C215407A0}" sibTransId="{D603D590-86D1-4A2B-AA78-5ECE7A167EF8}"/>
    <dgm:cxn modelId="{7456CF7A-A767-2C45-9751-450E975C3C00}" type="presOf" srcId="{7E64152B-C857-4F58-BBBB-AE285F141EED}" destId="{8AB74E9D-0C44-43CD-A173-FBE1DF440056}" srcOrd="0" destOrd="1" presId="urn:microsoft.com/office/officeart/2018/2/layout/IconVerticalSolidList"/>
    <dgm:cxn modelId="{F89A708B-0452-461F-90C5-38144B19743B}" srcId="{F8BDD2F1-AB45-4AC4-B090-D56E41648227}" destId="{162C52F7-D142-4581-9FA4-155BC4C8019C}" srcOrd="1" destOrd="0" parTransId="{0F36C850-A883-4855-90D3-12215ED747AC}" sibTransId="{82CAB350-A85C-4297-B1C9-B44243144565}"/>
    <dgm:cxn modelId="{DB590A9C-2704-402A-ACA8-EEAA5C31162D}" srcId="{162C52F7-D142-4581-9FA4-155BC4C8019C}" destId="{0298D976-63BD-480E-B6F3-EB5C9B527C4A}" srcOrd="0" destOrd="0" parTransId="{00CCC10B-825B-4BEC-83D2-1B2368BB8F82}" sibTransId="{9837D54C-BDCC-4680-9F39-16930F1D9E0C}"/>
    <dgm:cxn modelId="{CFE95FC8-9F49-4A49-B8A9-DD5DE1C1DF0B}" type="presOf" srcId="{0298D976-63BD-480E-B6F3-EB5C9B527C4A}" destId="{8AB74E9D-0C44-43CD-A173-FBE1DF440056}" srcOrd="0" destOrd="0" presId="urn:microsoft.com/office/officeart/2018/2/layout/IconVerticalSolidList"/>
    <dgm:cxn modelId="{A2E4CAE8-E2DD-FD4B-BD32-E51EBC82796C}" type="presOf" srcId="{1333059E-3184-4649-B19E-75D9C5AB588D}" destId="{3BA0B73A-909C-475F-854C-4925B86469D9}" srcOrd="0" destOrd="1" presId="urn:microsoft.com/office/officeart/2018/2/layout/IconVerticalSolidList"/>
    <dgm:cxn modelId="{4A4C12EE-4F29-0446-BB37-E62035CCD5D8}" type="presOf" srcId="{689A7C00-98B8-4870-9373-EE5F64DB2921}" destId="{A031F0FC-6127-4F9B-9E5C-D26771C22310}" srcOrd="0" destOrd="0" presId="urn:microsoft.com/office/officeart/2018/2/layout/IconVerticalSolidList"/>
    <dgm:cxn modelId="{2DA4AAF1-7387-4B8A-A65B-41E86A4E6A5F}" srcId="{DD66BE73-6A9E-42FC-B98A-79C72B216A64}" destId="{98B90080-217C-4CD6-992C-EF4C67C93611}" srcOrd="1" destOrd="0" parTransId="{3A3AF832-F4D7-4B15-89EA-780DA107C05E}" sibTransId="{9F1CC891-F5FB-42B1-9F39-2A471852F103}"/>
    <dgm:cxn modelId="{912947F3-8911-7342-BB84-020B26629633}" type="presOf" srcId="{DD66BE73-6A9E-42FC-B98A-79C72B216A64}" destId="{D25287A5-D795-4D74-9083-5A8C9E9D50E8}" srcOrd="0" destOrd="0" presId="urn:microsoft.com/office/officeart/2018/2/layout/IconVerticalSolidList"/>
    <dgm:cxn modelId="{7B48EDF7-6F42-4955-9790-C2417D27B155}" srcId="{C11C4E3B-19E7-4114-8D28-60646F35D2A3}" destId="{B79A6FF1-46EB-4905-B220-8280CB58310C}" srcOrd="0" destOrd="0" parTransId="{5767F159-87E9-4C6F-9348-22D676C717C3}" sibTransId="{D090AA17-7DF8-4F24-ACF3-0FE863CCD6BD}"/>
    <dgm:cxn modelId="{D7E4CAF8-27C9-8643-844F-E7DECE73D585}" type="presOf" srcId="{98B90080-217C-4CD6-992C-EF4C67C93611}" destId="{A031F0FC-6127-4F9B-9E5C-D26771C22310}" srcOrd="0" destOrd="1" presId="urn:microsoft.com/office/officeart/2018/2/layout/IconVerticalSolidList"/>
    <dgm:cxn modelId="{4F188D96-5C16-8D40-9BCD-FD6E5591C735}" type="presParOf" srcId="{43B29A86-15DE-4C44-82BD-B68EBCD828CB}" destId="{0E7DB076-0579-4B68-AF14-EA18CB71875B}" srcOrd="0" destOrd="0" presId="urn:microsoft.com/office/officeart/2018/2/layout/IconVerticalSolidList"/>
    <dgm:cxn modelId="{9846A546-AEC9-FF43-8CD8-C033D27791F2}" type="presParOf" srcId="{0E7DB076-0579-4B68-AF14-EA18CB71875B}" destId="{FC7C0DA3-1CA2-448D-B8E8-F21F03358064}" srcOrd="0" destOrd="0" presId="urn:microsoft.com/office/officeart/2018/2/layout/IconVerticalSolidList"/>
    <dgm:cxn modelId="{B7105D4A-6CAE-C74B-841B-54A7BBCB84AA}" type="presParOf" srcId="{0E7DB076-0579-4B68-AF14-EA18CB71875B}" destId="{CBFE9932-D96D-4838-921A-70C3A1DA53F1}" srcOrd="1" destOrd="0" presId="urn:microsoft.com/office/officeart/2018/2/layout/IconVerticalSolidList"/>
    <dgm:cxn modelId="{5C5FA42B-1402-F841-9CD7-D9D8B8D488CE}" type="presParOf" srcId="{0E7DB076-0579-4B68-AF14-EA18CB71875B}" destId="{7377C239-EF83-47AF-9F80-4D20238F0966}" srcOrd="2" destOrd="0" presId="urn:microsoft.com/office/officeart/2018/2/layout/IconVerticalSolidList"/>
    <dgm:cxn modelId="{4C009B33-FA96-184F-8B2D-C2A19CBD2B12}" type="presParOf" srcId="{0E7DB076-0579-4B68-AF14-EA18CB71875B}" destId="{770634BC-19BE-409E-B854-6AF7CFB01834}" srcOrd="3" destOrd="0" presId="urn:microsoft.com/office/officeart/2018/2/layout/IconVerticalSolidList"/>
    <dgm:cxn modelId="{63F3C7F7-8F5A-2F46-B268-6E6AA21504CD}" type="presParOf" srcId="{0E7DB076-0579-4B68-AF14-EA18CB71875B}" destId="{3BA0B73A-909C-475F-854C-4925B86469D9}" srcOrd="4" destOrd="0" presId="urn:microsoft.com/office/officeart/2018/2/layout/IconVerticalSolidList"/>
    <dgm:cxn modelId="{2CD323A7-3A6E-0845-A4A7-9EA06BA8F3E7}" type="presParOf" srcId="{43B29A86-15DE-4C44-82BD-B68EBCD828CB}" destId="{E4406D59-ABA9-4855-832F-0CA20DD68B2F}" srcOrd="1" destOrd="0" presId="urn:microsoft.com/office/officeart/2018/2/layout/IconVerticalSolidList"/>
    <dgm:cxn modelId="{94E64635-0B22-304B-B925-DDFBDF2E1E40}" type="presParOf" srcId="{43B29A86-15DE-4C44-82BD-B68EBCD828CB}" destId="{B67AE5CE-1260-4C2C-B591-B14C0DDBE74D}" srcOrd="2" destOrd="0" presId="urn:microsoft.com/office/officeart/2018/2/layout/IconVerticalSolidList"/>
    <dgm:cxn modelId="{97CC1104-B1EB-D345-9634-23788484C8FE}" type="presParOf" srcId="{B67AE5CE-1260-4C2C-B591-B14C0DDBE74D}" destId="{918C6892-2AC3-454C-8031-DED3C2F23739}" srcOrd="0" destOrd="0" presId="urn:microsoft.com/office/officeart/2018/2/layout/IconVerticalSolidList"/>
    <dgm:cxn modelId="{AA548929-15A8-2440-8DFE-4F8770CF67E9}" type="presParOf" srcId="{B67AE5CE-1260-4C2C-B591-B14C0DDBE74D}" destId="{B1CECEA6-9167-4FBF-91B0-8E076E099CC9}" srcOrd="1" destOrd="0" presId="urn:microsoft.com/office/officeart/2018/2/layout/IconVerticalSolidList"/>
    <dgm:cxn modelId="{FE67F82F-86E1-604D-B291-09E774AC3DA3}" type="presParOf" srcId="{B67AE5CE-1260-4C2C-B591-B14C0DDBE74D}" destId="{298629B8-9A89-4406-8EB2-7BA5C68248F3}" srcOrd="2" destOrd="0" presId="urn:microsoft.com/office/officeart/2018/2/layout/IconVerticalSolidList"/>
    <dgm:cxn modelId="{A3A49D14-832D-D543-92D7-3919E797301E}" type="presParOf" srcId="{B67AE5CE-1260-4C2C-B591-B14C0DDBE74D}" destId="{525082C8-2794-42D3-A790-9AA17E218335}" srcOrd="3" destOrd="0" presId="urn:microsoft.com/office/officeart/2018/2/layout/IconVerticalSolidList"/>
    <dgm:cxn modelId="{40415A66-B2DE-4B4B-AE34-3AF5F0D849E5}" type="presParOf" srcId="{B67AE5CE-1260-4C2C-B591-B14C0DDBE74D}" destId="{8AB74E9D-0C44-43CD-A173-FBE1DF440056}" srcOrd="4" destOrd="0" presId="urn:microsoft.com/office/officeart/2018/2/layout/IconVerticalSolidList"/>
    <dgm:cxn modelId="{9D1942BC-74EB-9C4C-8D8D-D7D91E2306F5}" type="presParOf" srcId="{43B29A86-15DE-4C44-82BD-B68EBCD828CB}" destId="{DAC9C9B3-5136-4A25-AE41-3744CB78B1D6}" srcOrd="3" destOrd="0" presId="urn:microsoft.com/office/officeart/2018/2/layout/IconVerticalSolidList"/>
    <dgm:cxn modelId="{50D00199-3398-E046-94C6-5737B69BCD55}" type="presParOf" srcId="{43B29A86-15DE-4C44-82BD-B68EBCD828CB}" destId="{10D0A98D-6A27-4D98-BE58-EE6AD6DF4E75}" srcOrd="4" destOrd="0" presId="urn:microsoft.com/office/officeart/2018/2/layout/IconVerticalSolidList"/>
    <dgm:cxn modelId="{91D22DC4-B1BE-D44E-B21D-F4CC7DF37139}" type="presParOf" srcId="{10D0A98D-6A27-4D98-BE58-EE6AD6DF4E75}" destId="{F4945498-6657-4998-910B-FEA30C93C822}" srcOrd="0" destOrd="0" presId="urn:microsoft.com/office/officeart/2018/2/layout/IconVerticalSolidList"/>
    <dgm:cxn modelId="{5DB47B44-2AAA-5941-BD7F-2A39422B4881}" type="presParOf" srcId="{10D0A98D-6A27-4D98-BE58-EE6AD6DF4E75}" destId="{31181386-5581-4CB1-86A0-2F77AD3B1A17}" srcOrd="1" destOrd="0" presId="urn:microsoft.com/office/officeart/2018/2/layout/IconVerticalSolidList"/>
    <dgm:cxn modelId="{C65F64E1-7A98-8B49-953C-ACFA52D4233C}" type="presParOf" srcId="{10D0A98D-6A27-4D98-BE58-EE6AD6DF4E75}" destId="{113884B7-E356-4BAC-8C3E-30FCFE93AEA3}" srcOrd="2" destOrd="0" presId="urn:microsoft.com/office/officeart/2018/2/layout/IconVerticalSolidList"/>
    <dgm:cxn modelId="{CF20383A-5E91-E64F-AFD1-1B3D1A6BC673}" type="presParOf" srcId="{10D0A98D-6A27-4D98-BE58-EE6AD6DF4E75}" destId="{D25287A5-D795-4D74-9083-5A8C9E9D50E8}" srcOrd="3" destOrd="0" presId="urn:microsoft.com/office/officeart/2018/2/layout/IconVerticalSolidList"/>
    <dgm:cxn modelId="{FBDA30D8-7FEC-E14F-936F-5F73F94119E2}" type="presParOf" srcId="{10D0A98D-6A27-4D98-BE58-EE6AD6DF4E75}" destId="{A031F0FC-6127-4F9B-9E5C-D26771C22310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7C0DA3-1CA2-448D-B8E8-F21F03358064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FE9932-D96D-4838-921A-70C3A1DA53F1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0634BC-19BE-409E-B854-6AF7CFB01834}">
      <dsp:nvSpPr>
        <dsp:cNvPr id="0" name=""/>
        <dsp:cNvSpPr/>
      </dsp:nvSpPr>
      <dsp:spPr>
        <a:xfrm>
          <a:off x="1435590" y="531"/>
          <a:ext cx="473202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Administrative Burdens:</a:t>
          </a:r>
        </a:p>
      </dsp:txBody>
      <dsp:txXfrm>
        <a:off x="1435590" y="531"/>
        <a:ext cx="4732020" cy="1242935"/>
      </dsp:txXfrm>
    </dsp:sp>
    <dsp:sp modelId="{3BA0B73A-909C-475F-854C-4925B86469D9}">
      <dsp:nvSpPr>
        <dsp:cNvPr id="0" name=""/>
        <dsp:cNvSpPr/>
      </dsp:nvSpPr>
      <dsp:spPr>
        <a:xfrm>
          <a:off x="6167610" y="531"/>
          <a:ext cx="434798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Providers process 43 authorization requests a week</a:t>
          </a:r>
          <a:r>
            <a:rPr lang="en-US" sz="1100" kern="1200"/>
            <a:t>, spending over </a:t>
          </a:r>
          <a:r>
            <a:rPr lang="en-US" sz="1100" b="1" kern="1200"/>
            <a:t>12 staff hours </a:t>
          </a:r>
          <a:r>
            <a:rPr lang="en-US" sz="1100" kern="1200"/>
            <a:t>in manual documentation and review connected to Prior Authorization.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Prior-auth staffing jumped </a:t>
          </a:r>
          <a:r>
            <a:rPr lang="en-US" sz="1100" b="1" kern="1200"/>
            <a:t>43%</a:t>
          </a:r>
          <a:r>
            <a:rPr lang="en-US" sz="1100" kern="1200"/>
            <a:t> between 2019 and 2024.</a:t>
          </a:r>
        </a:p>
      </dsp:txBody>
      <dsp:txXfrm>
        <a:off x="6167610" y="531"/>
        <a:ext cx="4347989" cy="1242935"/>
      </dsp:txXfrm>
    </dsp:sp>
    <dsp:sp modelId="{918C6892-2AC3-454C-8031-DED3C2F23739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CECEA6-9167-4FBF-91B0-8E076E099CC9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5082C8-2794-42D3-A790-9AA17E218335}">
      <dsp:nvSpPr>
        <dsp:cNvPr id="0" name=""/>
        <dsp:cNvSpPr/>
      </dsp:nvSpPr>
      <dsp:spPr>
        <a:xfrm>
          <a:off x="1435590" y="1554201"/>
          <a:ext cx="473202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Patient Burden:</a:t>
          </a:r>
        </a:p>
      </dsp:txBody>
      <dsp:txXfrm>
        <a:off x="1435590" y="1554201"/>
        <a:ext cx="4732020" cy="1242935"/>
      </dsp:txXfrm>
    </dsp:sp>
    <dsp:sp modelId="{8AB74E9D-0C44-43CD-A173-FBE1DF440056}">
      <dsp:nvSpPr>
        <dsp:cNvPr id="0" name=""/>
        <dsp:cNvSpPr/>
      </dsp:nvSpPr>
      <dsp:spPr>
        <a:xfrm>
          <a:off x="6167610" y="1554201"/>
          <a:ext cx="434798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29%</a:t>
          </a:r>
          <a:r>
            <a:rPr lang="en-US" sz="1100" kern="1200"/>
            <a:t> of physicians reported that patients in their care suffered serious adverse event because treatment was stalled.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Most providers report that prior auth barriers results in </a:t>
          </a:r>
          <a:r>
            <a:rPr lang="en-US" sz="1100" b="1" kern="1200"/>
            <a:t>treatment abandonment</a:t>
          </a:r>
          <a:r>
            <a:rPr lang="en-US" sz="1100" kern="1200"/>
            <a:t>.</a:t>
          </a:r>
        </a:p>
      </dsp:txBody>
      <dsp:txXfrm>
        <a:off x="6167610" y="1554201"/>
        <a:ext cx="4347989" cy="1242935"/>
      </dsp:txXfrm>
    </dsp:sp>
    <dsp:sp modelId="{F4945498-6657-4998-910B-FEA30C93C822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181386-5581-4CB1-86A0-2F77AD3B1A17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5287A5-D795-4D74-9083-5A8C9E9D50E8}">
      <dsp:nvSpPr>
        <dsp:cNvPr id="0" name=""/>
        <dsp:cNvSpPr/>
      </dsp:nvSpPr>
      <dsp:spPr>
        <a:xfrm>
          <a:off x="1435590" y="3107870"/>
          <a:ext cx="473202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CMS Interoperability and Prior Authorization Final Rule (CMS-0057-F):</a:t>
          </a:r>
        </a:p>
      </dsp:txBody>
      <dsp:txXfrm>
        <a:off x="1435590" y="3107870"/>
        <a:ext cx="4732020" cy="1242935"/>
      </dsp:txXfrm>
    </dsp:sp>
    <dsp:sp modelId="{A031F0FC-6127-4F9B-9E5C-D26771C22310}">
      <dsp:nvSpPr>
        <dsp:cNvPr id="0" name=""/>
        <dsp:cNvSpPr/>
      </dsp:nvSpPr>
      <dsp:spPr>
        <a:xfrm>
          <a:off x="6167610" y="3107870"/>
          <a:ext cx="434798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Payers must process standard prior authorization within </a:t>
          </a:r>
          <a:r>
            <a:rPr lang="en-US" sz="1100" b="1" kern="1200"/>
            <a:t>7 calendar days</a:t>
          </a:r>
          <a:r>
            <a:rPr lang="en-US" sz="1100" kern="1200"/>
            <a:t>, and urgent requests within </a:t>
          </a:r>
          <a:r>
            <a:rPr lang="en-US" sz="1100" b="1" kern="1200"/>
            <a:t>72 hours</a:t>
          </a:r>
          <a:r>
            <a:rPr lang="en-US" sz="1100" kern="1200"/>
            <a:t>, effective Jan 1</a:t>
          </a:r>
          <a:r>
            <a:rPr lang="en-US" sz="1100" kern="1200" baseline="30000"/>
            <a:t>st</a:t>
          </a:r>
          <a:r>
            <a:rPr lang="en-US" sz="1100" kern="1200"/>
            <a:t>, 2026.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Payers must implement and manage </a:t>
          </a:r>
          <a:r>
            <a:rPr lang="en-US" sz="1100" b="1" kern="1200"/>
            <a:t>FHIR-based Application Programming</a:t>
          </a:r>
          <a:r>
            <a:rPr lang="en-US" sz="1100" kern="1200"/>
            <a:t> </a:t>
          </a:r>
          <a:r>
            <a:rPr lang="en-US" sz="1100" b="1" kern="1200"/>
            <a:t>Interface</a:t>
          </a:r>
          <a:r>
            <a:rPr lang="en-US" sz="1100" kern="1200"/>
            <a:t> to streamline data sharing (patient access, provider access, prior authorization APIs), effective Jan 1</a:t>
          </a:r>
          <a:r>
            <a:rPr lang="en-US" sz="1100" kern="1200" baseline="30000"/>
            <a:t>st</a:t>
          </a:r>
          <a:r>
            <a:rPr lang="en-US" sz="1100" kern="1200"/>
            <a:t> , 2027.</a:t>
          </a:r>
        </a:p>
      </dsp:txBody>
      <dsp:txXfrm>
        <a:off x="6167610" y="3107870"/>
        <a:ext cx="434798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7CE722-B8B0-F64E-9AC2-07B8EE5C22AC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312C17-BB86-AC4D-872F-148D1603E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440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12C17-BB86-AC4D-872F-148D1603EA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681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- Current prior authorization system is severely administrative heavy and directly harms patient outcomes.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Source:</a:t>
            </a:r>
          </a:p>
          <a:p>
            <a:r>
              <a:rPr lang="en-US" dirty="0"/>
              <a:t>- https://</a:t>
            </a:r>
            <a:r>
              <a:rPr lang="en-US" dirty="0" err="1"/>
              <a:t>www.medicaleconomics.com</a:t>
            </a:r>
            <a:r>
              <a:rPr lang="en-US" dirty="0"/>
              <a:t>/view/prior-authorization-history-burden-ai-future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12C17-BB86-AC4D-872F-148D1603EA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783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Third Party API’s introduce 3 major risks: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Protected health information and proprietary business information/processes sent to these third party providers</a:t>
            </a:r>
          </a:p>
          <a:p>
            <a:pPr marL="628650" lvl="1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endParaRPr lang="en-US" dirty="0"/>
          </a:p>
          <a:p>
            <a:r>
              <a:rPr lang="en-US" dirty="0"/>
              <a:t>Sources:</a:t>
            </a:r>
          </a:p>
          <a:p>
            <a:pPr marL="228600" indent="-228600">
              <a:buAutoNum type="arabicPeriod"/>
            </a:pPr>
            <a:r>
              <a:rPr lang="en-US" dirty="0"/>
              <a:t>https://</a:t>
            </a:r>
            <a:r>
              <a:rPr lang="en-US" dirty="0" err="1"/>
              <a:t>pub.towardsai.net</a:t>
            </a:r>
            <a:r>
              <a:rPr lang="en-US" dirty="0"/>
              <a:t>/i-reverse-engineered-200-ai-startups-73-are-lying-a8610acab0d3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12C17-BB86-AC4D-872F-148D1603EAF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155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 propose a local deployment of LLMs:</a:t>
            </a:r>
          </a:p>
          <a:p>
            <a:r>
              <a:rPr lang="en-US" dirty="0"/>
              <a:t>With this solution, we are resolving such vulnerabilities</a:t>
            </a:r>
          </a:p>
          <a:p>
            <a:endParaRPr lang="en-US" dirty="0"/>
          </a:p>
          <a:p>
            <a:r>
              <a:rPr lang="en-US" dirty="0"/>
              <a:t>Sources:</a:t>
            </a:r>
          </a:p>
          <a:p>
            <a:r>
              <a:rPr lang="en-US" dirty="0"/>
              <a:t>- https://</a:t>
            </a:r>
            <a:r>
              <a:rPr lang="en-US" dirty="0" err="1"/>
              <a:t>lenovopress.lenovo.com</a:t>
            </a:r>
            <a:r>
              <a:rPr lang="en-US" dirty="0"/>
              <a:t>/lp2368-on-premise-vs-cloud-generative-ai-total-cost-of-ownership-2026-edition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12C17-BB86-AC4D-872F-148D1603EA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678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12C17-BB86-AC4D-872F-148D1603EA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42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Decoupling from high friction dependency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12C17-BB86-AC4D-872F-148D1603EA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392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20BF3-56DE-120A-A68E-2FFE915F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71B15B-F33B-30A0-72B9-9B75466CDC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B5054-664E-8123-5D99-F955596D2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E2A15-F8A8-5244-B5B5-876561677D11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929DB-0A76-3574-C11F-7080251CF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0C0A0-D647-C6E2-3870-4C09FE1AD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D903-3732-E54B-9C5E-DB4291D4D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482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7393F-75D4-4827-6343-0892DDA16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24860-248C-DB5E-0B06-64C357DB3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A118D-011D-8C98-BD49-702E08112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E2A15-F8A8-5244-B5B5-876561677D11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08F58-FBAF-FCFC-C55C-E936F66BB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093C0-2537-78CB-109C-C0EA451CF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D903-3732-E54B-9C5E-DB4291D4D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866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F473B-749D-51DA-B7CF-C3981890E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F90C9-AE0E-38CB-4055-3F63696ED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E518E-9ED4-4C92-0B41-99FFF83F9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E2A15-F8A8-5244-B5B5-876561677D11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F0394-B592-D8E7-BC55-9253FEB44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50CB7-5F51-C672-C5B0-C5826BEBD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D903-3732-E54B-9C5E-DB4291D4D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085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48895-7169-FE3C-B57C-628EA5433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F2F88-6201-4153-E0ED-C867D04CAD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5BEE4A-9791-7A7B-221C-1E7E58189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1B8C91-01F7-3DB1-F467-AED438212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E2A15-F8A8-5244-B5B5-876561677D11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BFE57-23B0-146D-1FEF-1575D204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DB1BF-D250-3254-A762-4356E76BA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D903-3732-E54B-9C5E-DB4291D4D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86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DE5E5-E507-DAEA-2DD0-E78B7DCFA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B1886-5BA5-78AF-1B63-AC1216383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F25B7-BC4B-E0F2-D5D9-FBC690551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3C37C7-F020-6392-8C61-916CB86A6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C26406-5463-C1F0-0F2D-A155A070CB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5A669C-FA67-17EC-6717-31128067E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E2A15-F8A8-5244-B5B5-876561677D11}" type="datetimeFigureOut">
              <a:rPr lang="en-US" smtClean="0"/>
              <a:t>8/11/26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59E1B8-86D7-90F3-CDC4-DC9103420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7C813B-7C6A-9DDA-AC42-6CFB3E1A1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D903-3732-E54B-9C5E-DB4291D4D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90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7EA4E-69D7-CAB5-30BB-D2F38C60A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1D5D9E-991C-DE23-295F-13906F048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E2A15-F8A8-5244-B5B5-876561677D11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D57794-0936-970C-DF68-B9CB41923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D04A05-9159-1F9A-0667-ECFD50379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D903-3732-E54B-9C5E-DB4291D4D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87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927E83-7E49-45CC-99A2-796434981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E2A15-F8A8-5244-B5B5-876561677D11}" type="datetimeFigureOut">
              <a:rPr lang="en-US" smtClean="0"/>
              <a:t>8/11/26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7D33DD-8693-80FD-F002-C021A4140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AA6A0-F38C-41C3-9605-7F063E51B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D903-3732-E54B-9C5E-DB4291D4D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254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9AB5B-D8D1-BF3E-E8D9-17E8B21CE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CF770-8C3F-2938-BBBE-7278870C3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A8A035-A4CB-987B-D41C-410346FEF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7165E-18CA-47A9-C34F-C9D42DEA9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E2A15-F8A8-5244-B5B5-876561677D11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71E44C-769C-4863-98AA-5C7241CE6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C418F-9F85-00C8-1333-EB7EAF281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D903-3732-E54B-9C5E-DB4291D4D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180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81CD8-F5E9-5413-5445-3C0554C7C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DAA146-41BA-EFD0-8346-F4EA4DC151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E57421-4144-D662-6568-8C5CCDD4E3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E52F0-27FF-6199-6CB2-4BC6FD1BF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E2A15-F8A8-5244-B5B5-876561677D11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0AC0B-DE93-DBC3-DAF2-BA72AA787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E1525-83BD-1C30-7E74-7B8BD189E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D903-3732-E54B-9C5E-DB4291D4D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460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F310C-BD7D-48D9-C0FE-4956FBD57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727A0A-D60D-8475-1AF4-CCB012593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2F8F6-C9E6-58DF-A7BB-8963D12A5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E2A15-F8A8-5244-B5B5-876561677D11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1394D-69B9-0E66-8735-303B4BF5F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444E4-72A6-592E-E7F2-E701AC6D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D903-3732-E54B-9C5E-DB4291D4D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70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3D583E-3D59-3FE0-5E82-BB9911AB37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3DB62E-75A6-0CB3-C09B-5257025D70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5E8CA-B6A7-20A7-5AC3-B4369DAA2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E2A15-F8A8-5244-B5B5-876561677D11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8AD33-9F16-15A9-64BC-19E4206D0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16250-8F30-2F00-3B55-FA4C39E38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D903-3732-E54B-9C5E-DB4291D4D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095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A8754-3481-ECE2-4510-EC40FAE9F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1F0BA-791A-A5C5-2E73-3FD0C18CA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2C943-E61C-82EE-FEDB-7D3AB9CBB0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FE2A15-F8A8-5244-B5B5-876561677D11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4B574-8AB2-06DC-E64F-E5E9E67DEA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78419-F042-CB38-3488-208DEB56F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CED903-3732-E54B-9C5E-DB4291D4D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093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93CD81-C7AD-01CE-0648-C4378A898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4500" b="1"/>
              <a:t>Local AI Deployment in Healthcare Enterprise Operations: Preserving Sovereignty, Data Privacy, and Continuity in Prior Authorization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F01293-0933-D4F6-D1F3-2B83F198A1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en-US" sz="1500"/>
              <a:t>Jason Siputro</a:t>
            </a:r>
          </a:p>
          <a:p>
            <a:r>
              <a:rPr lang="en-US" sz="1500"/>
              <a:t>Seattle University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6550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223C8F-9800-BF13-88E0-DB0984514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97F221-76E0-2734-CCC9-FA39DB4FF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42237" cy="1325563"/>
          </a:xfrm>
        </p:spPr>
        <p:txBody>
          <a:bodyPr>
            <a:normAutofit/>
          </a:bodyPr>
          <a:lstStyle/>
          <a:p>
            <a:r>
              <a:rPr lang="en-US" sz="4300"/>
              <a:t>The Problem: Prior Authorization Bottleneck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D49EE5-CF99-7F89-8F78-0E5F36CCFB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24126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98029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00DA5-BAB0-8C02-1198-B1FB0F52D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6390"/>
            <a:ext cx="6155988" cy="1182927"/>
          </a:xfrm>
        </p:spPr>
        <p:txBody>
          <a:bodyPr anchor="b">
            <a:normAutofit/>
          </a:bodyPr>
          <a:lstStyle/>
          <a:p>
            <a:r>
              <a:rPr lang="en-US" sz="3900"/>
              <a:t>The Problem: Third-party API Vulnerabilities in Healthcare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E436B-5EF5-F2E4-37ED-1EBF380DB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6" y="2829330"/>
            <a:ext cx="6190412" cy="3344459"/>
          </a:xfrm>
        </p:spPr>
        <p:txBody>
          <a:bodyPr anchor="t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Third-party APIs introduce operational risks:</a:t>
            </a:r>
          </a:p>
          <a:p>
            <a:pPr lvl="1"/>
            <a:r>
              <a:rPr lang="en-US" sz="2000" b="1">
                <a:solidFill>
                  <a:schemeClr val="tx1">
                    <a:alpha val="80000"/>
                  </a:schemeClr>
                </a:solidFill>
              </a:rPr>
              <a:t>Data Leaks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: risk of exposing protected health information (PHI) &amp; proprietary business processes.</a:t>
            </a:r>
          </a:p>
          <a:p>
            <a:pPr lvl="1"/>
            <a:r>
              <a:rPr lang="en-US" sz="2000" b="1">
                <a:solidFill>
                  <a:schemeClr val="tx1">
                    <a:alpha val="80000"/>
                  </a:schemeClr>
                </a:solidFill>
              </a:rPr>
              <a:t>High friction dependency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: your system is at the mercy of the API providers (pricing, model availability, usage policy).</a:t>
            </a:r>
          </a:p>
          <a:p>
            <a:pPr lvl="1"/>
            <a:r>
              <a:rPr lang="en-US" sz="2000" b="1">
                <a:solidFill>
                  <a:schemeClr val="tx1">
                    <a:alpha val="80000"/>
                  </a:schemeClr>
                </a:solidFill>
              </a:rPr>
              <a:t>No ownership of AI model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: you don’t own any of the intellectual property control.</a:t>
            </a:r>
          </a:p>
          <a:p>
            <a:pPr lvl="1"/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 lvl="1"/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2EF80392-B594-84EB-1832-F02379D3B1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72653" y="1980885"/>
            <a:ext cx="3548404" cy="3548404"/>
          </a:xfrm>
          <a:prstGeom prst="rect">
            <a:avLst/>
          </a:prstGeom>
        </p:spPr>
      </p:pic>
      <p:sp>
        <p:nvSpPr>
          <p:cNvPr id="23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4552" y="189928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6862" y="218992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84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BB2203-078F-4206-6B3E-0590FDA2E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3" name="Rectangle 2072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D25BF-8F78-93D3-6A71-EE67AE027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6390"/>
            <a:ext cx="6155988" cy="1182927"/>
          </a:xfrm>
        </p:spPr>
        <p:txBody>
          <a:bodyPr anchor="b">
            <a:normAutofit/>
          </a:bodyPr>
          <a:lstStyle/>
          <a:p>
            <a:r>
              <a:rPr lang="en-US" sz="3900"/>
              <a:t>The Solution: Local deployment of LLMs</a:t>
            </a:r>
          </a:p>
        </p:txBody>
      </p:sp>
      <p:cxnSp>
        <p:nvCxnSpPr>
          <p:cNvPr id="2075" name="Straight Connector 2074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A4FB0-0D0C-D323-3F0F-27AF7EBDB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6" y="2829330"/>
            <a:ext cx="6190412" cy="3344459"/>
          </a:xfrm>
        </p:spPr>
        <p:txBody>
          <a:bodyPr anchor="t">
            <a:normAutofit/>
          </a:bodyPr>
          <a:lstStyle/>
          <a:p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Deploying open-weight LLMs locally resolves such vulnerabilities:</a:t>
            </a:r>
          </a:p>
          <a:p>
            <a:pPr lvl="1"/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Data Sovereignty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: Data is not sent to third party LLM providers, guaranteeing HIPAA compliance and securing company trade secrets/ intellectual properties.</a:t>
            </a:r>
          </a:p>
          <a:p>
            <a:pPr lvl="1"/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Ownership of Model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: you own the deployment, weights, fine-tuned params and control of the model.</a:t>
            </a:r>
          </a:p>
          <a:p>
            <a:pPr lvl="1"/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Predictable cost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: converts unpredictable per-token operational expenditure into stable capital infrastructure investment.</a:t>
            </a:r>
          </a:p>
          <a:p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Note on the cons:</a:t>
            </a:r>
          </a:p>
          <a:p>
            <a:pPr lvl="1"/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High initial Capital Expenditures</a:t>
            </a:r>
          </a:p>
          <a:p>
            <a:pPr lvl="1"/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Local team for maintenance and security</a:t>
            </a:r>
          </a:p>
          <a:p>
            <a:pPr lvl="1"/>
            <a:endParaRPr lang="en-US" sz="14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Breakeven point against hyperscale cloud providers in as little as </a:t>
            </a:r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6 months</a:t>
            </a:r>
          </a:p>
        </p:txBody>
      </p:sp>
      <p:pic>
        <p:nvPicPr>
          <p:cNvPr id="2050" name="Picture 2" descr="Breakeven Analysis for on-demand and 1-year reserved instance for 8x H200 on cloud vs on-prem">
            <a:extLst>
              <a:ext uri="{FF2B5EF4-FFF2-40B4-BE49-F238E27FC236}">
                <a16:creationId xmlns:a16="http://schemas.microsoft.com/office/drawing/2014/main" id="{D2BB507E-7798-6FA1-2914-ADB798BAA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8775" y="2519317"/>
            <a:ext cx="4710820" cy="2744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4552" y="189928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79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6862" y="218992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76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2805" y="898469"/>
            <a:ext cx="91440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0">
                <a:solidFill>
                  <a:srgbClr val="CBD5E1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End-to-end privacy-preserving audit pipeline — everything runs locally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900" b="1">
                <a:solidFill>
                  <a:srgbClr val="94A3B8"/>
                </a:solidFill>
                <a:latin typeface="Calibri"/>
              </a:defRPr>
            </a:pPr>
            <a:r>
              <a:t>DATA 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210312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Patient FHIR R4</a:t>
            </a:r>
            <a:br/>
            <a:r>
              <a:t>Bundles (Synthea)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337560"/>
            <a:ext cx="210312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Coverage Policies</a:t>
            </a:r>
            <a:br/>
            <a:r>
              <a:t>CP-101 · CP-202 · CP-303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480560"/>
            <a:ext cx="210312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PA Claim Request</a:t>
            </a:r>
            <a:br/>
            <a:r>
              <a:t>(Procedure + SNOMED)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43200" y="3337560"/>
            <a:ext cx="640080" cy="32004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1828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900" b="1">
                <a:solidFill>
                  <a:srgbClr val="94A3B8"/>
                </a:solidFill>
                <a:latin typeface="Calibri"/>
              </a:defRPr>
            </a:pPr>
            <a:r>
              <a:t>PROCESSING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194560"/>
            <a:ext cx="2926080" cy="3840480"/>
          </a:xfrm>
          <a:prstGeom prst="roundRect">
            <a:avLst/>
          </a:prstGeom>
          <a:solidFill>
            <a:srgbClr val="27344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94760" y="2377440"/>
            <a:ext cx="246888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FHIR R4 Parser</a:t>
            </a:r>
            <a:br/>
            <a:r>
              <a:t>(fhir_parser.py)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846320" y="3063240"/>
            <a:ext cx="274320" cy="274320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794760" y="3383280"/>
            <a:ext cx="246888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Policy Matcher</a:t>
            </a:r>
            <a:br/>
            <a:r>
              <a:t>(policies.py)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846320" y="4069080"/>
            <a:ext cx="274320" cy="274320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794760" y="4389120"/>
            <a:ext cx="2468880" cy="960120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3192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100" b="1">
                <a:solidFill>
                  <a:srgbClr val="38BDF8"/>
                </a:solidFill>
                <a:latin typeface="Calibri"/>
              </a:defRPr>
            </a:pPr>
            <a:r>
              <a:t>Agentic Audit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900" b="0">
                <a:solidFill>
                  <a:srgbClr val="94A3B8"/>
                </a:solidFill>
                <a:latin typeface="Calibri"/>
              </a:defRPr>
            </a:pPr>
            <a:r>
              <a:t>Ollama qwen2.5:7b</a:t>
            </a:r>
            <a:br/>
            <a:r>
              <a:t>CoT Reasoning · JSON Output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675120" y="3337560"/>
            <a:ext cx="640080" cy="320040"/>
          </a:xfrm>
          <a:prstGeom prst="rightArrow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79" y="1828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900" b="1">
                <a:solidFill>
                  <a:srgbClr val="94A3B8"/>
                </a:solidFill>
                <a:latin typeface="Calibri"/>
              </a:defRPr>
            </a:pPr>
            <a:r>
              <a:t>AI OUTPUT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2194560"/>
            <a:ext cx="20116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Risk Classification</a:t>
            </a:r>
            <a:br/>
            <a:r>
              <a:t>Low · Moderate · High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3154680"/>
            <a:ext cx="20116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Chain-of-Thought</a:t>
            </a:r>
            <a:br/>
            <a:r>
              <a:t>Step-by-Step Reasoning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4114800"/>
            <a:ext cx="20116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Verbatim Citations</a:t>
            </a:r>
            <a:br/>
            <a:r>
              <a:t>Policy &amp; Record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5074920"/>
            <a:ext cx="20116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Final Rationale</a:t>
            </a:r>
            <a:endParaRPr dirty="0"/>
          </a:p>
        </p:txBody>
      </p:sp>
      <p:sp>
        <p:nvSpPr>
          <p:cNvPr id="25" name="Right Arrow 24"/>
          <p:cNvSpPr/>
          <p:nvPr/>
        </p:nvSpPr>
        <p:spPr>
          <a:xfrm>
            <a:off x="9499898" y="3429000"/>
            <a:ext cx="558502" cy="231738"/>
          </a:xfrm>
          <a:prstGeom prst="rightArrow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900" b="1">
                <a:solidFill>
                  <a:srgbClr val="94A3B8"/>
                </a:solidFill>
                <a:latin typeface="Calibri"/>
              </a:defRPr>
            </a:pPr>
            <a:r>
              <a:t>HUMAN REVIEW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2194560"/>
            <a:ext cx="1828800" cy="38404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49840" y="2331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200" b="1">
                <a:solidFill>
                  <a:srgbClr val="34D399"/>
                </a:solidFill>
                <a:latin typeface="Calibri"/>
              </a:defRPr>
            </a:pPr>
            <a:r>
              <a:t>Streamlit</a:t>
            </a:r>
            <a:br/>
            <a:r>
              <a:t>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64184" y="297180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Approve</a:t>
            </a:r>
            <a:br/>
            <a:r>
              <a:t>• Deny</a:t>
            </a:r>
            <a:br/>
            <a:r>
              <a:t>• Request Info</a:t>
            </a:r>
            <a:br/>
            <a:br/>
            <a:r>
              <a:t>• Review CoT</a:t>
            </a:r>
            <a:br/>
            <a:r>
              <a:t>• Check citations</a:t>
            </a:r>
            <a:br/>
            <a:r>
              <a:t>• Auditor notes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defRPr sz="900" b="0">
                <a:solidFill>
                  <a:srgbClr val="94A3B8"/>
                </a:solidFill>
                <a:latin typeface="Calibri"/>
              </a:defRPr>
            </a:pPr>
            <a:r>
              <a:t>5 / 12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AAB839BB-9858-E49A-5F4F-59824B98C7C0}"/>
              </a:ext>
            </a:extLst>
          </p:cNvPr>
          <p:cNvSpPr txBox="1">
            <a:spLocks/>
          </p:cNvSpPr>
          <p:nvPr/>
        </p:nvSpPr>
        <p:spPr>
          <a:xfrm>
            <a:off x="132805" y="217079"/>
            <a:ext cx="11928565" cy="636361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System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E0AFF-5E63-A831-387D-9B4E9EF50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E45D-F509-EBCA-1C11-917E18FE2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17" y="3110819"/>
            <a:ext cx="11928565" cy="6363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145093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D051AF-8CE7-CE1B-D619-1B4D261BE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EE6DFE-DD04-51FC-8675-A45E4EF54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563B1-220C-76AD-C79E-16B9E49EF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b="1"/>
              <a:t>AI-based parser</a:t>
            </a:r>
            <a:r>
              <a:rPr lang="en-US" sz="2000"/>
              <a:t>: Extracting Important information and converting to FHIR-based output using an Agentic AI.</a:t>
            </a:r>
          </a:p>
          <a:p>
            <a:r>
              <a:rPr lang="en-US" sz="2000" b="1"/>
              <a:t>RAG implementation</a:t>
            </a:r>
            <a:r>
              <a:rPr lang="en-US" sz="2000"/>
              <a:t>: efficiently retrieving relevant information for Agentic AI workflow.</a:t>
            </a:r>
          </a:p>
          <a:p>
            <a:r>
              <a:rPr lang="en-US" sz="2000" b="1"/>
              <a:t>Fine-Tuning</a:t>
            </a:r>
            <a:r>
              <a:rPr lang="en-US" sz="2000"/>
              <a:t>: Train model to be an expert at a specific field in TPOs.</a:t>
            </a:r>
          </a:p>
        </p:txBody>
      </p:sp>
    </p:spTree>
    <p:extLst>
      <p:ext uri="{BB962C8B-B14F-4D97-AF65-F5344CB8AC3E}">
        <p14:creationId xmlns:p14="http://schemas.microsoft.com/office/powerpoint/2010/main" val="2221138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FDA940-0A04-1C92-7B75-D6366BC13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53BE57-E486-8369-384F-8DF2B40AE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r>
              <a:rPr lang="en-US" sz="4000"/>
              <a:t>Strategic Impact for Cotiviti</a:t>
            </a:r>
          </a:p>
        </p:txBody>
      </p:sp>
      <p:pic>
        <p:nvPicPr>
          <p:cNvPr id="1026" name="Picture 2" descr="FHIR Gateway Graphic">
            <a:extLst>
              <a:ext uri="{FF2B5EF4-FFF2-40B4-BE49-F238E27FC236}">
                <a16:creationId xmlns:a16="http://schemas.microsoft.com/office/drawing/2014/main" id="{D7FCA3EA-D690-EB70-6626-8A9FB8F2B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8130" y="2122981"/>
            <a:ext cx="3876165" cy="2180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CA127-BCF5-E337-2D13-81E75CC4F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anchor="t">
            <a:normAutofit/>
          </a:bodyPr>
          <a:lstStyle/>
          <a:p>
            <a:r>
              <a:rPr lang="en-US" sz="1700" dirty="0"/>
              <a:t>Local deployment of LLMs extends its benefits to all Cotiviti’s solutions:</a:t>
            </a:r>
          </a:p>
          <a:p>
            <a:pPr lvl="1"/>
            <a:r>
              <a:rPr lang="en-US" sz="1700" dirty="0"/>
              <a:t>Positioning Cotiviti as a </a:t>
            </a:r>
            <a:r>
              <a:rPr lang="en-US" sz="1700" b="1" dirty="0"/>
              <a:t>secure AI solution </a:t>
            </a:r>
            <a:r>
              <a:rPr lang="en-US" sz="1700" dirty="0"/>
              <a:t>for Healthcare enterprises </a:t>
            </a:r>
          </a:p>
          <a:p>
            <a:pPr lvl="2"/>
            <a:r>
              <a:rPr lang="en-US" sz="1700" dirty="0"/>
              <a:t>Zero Data leaving locally hosted server to Third Party LLM API provider.</a:t>
            </a:r>
          </a:p>
          <a:p>
            <a:pPr lvl="1"/>
            <a:r>
              <a:rPr lang="en-US" sz="1700" b="1" dirty="0"/>
              <a:t>Ownership of Model</a:t>
            </a:r>
            <a:r>
              <a:rPr lang="en-US" sz="1700" dirty="0"/>
              <a:t>, its governance and fine-tuning.</a:t>
            </a:r>
          </a:p>
          <a:p>
            <a:pPr lvl="1"/>
            <a:r>
              <a:rPr lang="en-US" sz="1700" b="1" dirty="0"/>
              <a:t>Decoupling core operations from volatile Cloud API pricing</a:t>
            </a:r>
            <a:r>
              <a:rPr lang="en-US" sz="1700" dirty="0"/>
              <a:t> and risk of </a:t>
            </a:r>
            <a:r>
              <a:rPr lang="en-US" sz="1700" b="1" dirty="0"/>
              <a:t>model deprecation </a:t>
            </a:r>
            <a:r>
              <a:rPr lang="en-US" sz="1700" dirty="0"/>
              <a:t>by transitioning to stable capital infrastructure.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393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3098</TotalTime>
  <Words>674</Words>
  <Application>Microsoft Macintosh PowerPoint</Application>
  <PresentationFormat>Widescreen</PresentationFormat>
  <Paragraphs>84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Local AI Deployment in Healthcare Enterprise Operations: Preserving Sovereignty, Data Privacy, and Continuity in Prior Authorization</vt:lpstr>
      <vt:lpstr>The Problem: Prior Authorization Bottleneck</vt:lpstr>
      <vt:lpstr>The Problem: Third-party API Vulnerabilities in Healthcare</vt:lpstr>
      <vt:lpstr>The Solution: Local deployment of LLMs</vt:lpstr>
      <vt:lpstr>PowerPoint Presentation</vt:lpstr>
      <vt:lpstr>DEMO</vt:lpstr>
      <vt:lpstr>Future Improvements</vt:lpstr>
      <vt:lpstr>Strategic Impact for Cotiviti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Siputro</dc:creator>
  <cp:lastModifiedBy>Jason Siputro</cp:lastModifiedBy>
  <cp:revision>2</cp:revision>
  <dcterms:created xsi:type="dcterms:W3CDTF">2026-08-11T16:44:48Z</dcterms:created>
  <dcterms:modified xsi:type="dcterms:W3CDTF">2026-08-13T20:23:34Z</dcterms:modified>
</cp:coreProperties>
</file>